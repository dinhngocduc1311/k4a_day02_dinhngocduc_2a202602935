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Relationship Id="rId7" Type="http://schemas.openxmlformats.org/officeDocument/2006/relationships/image" Target="../media/image12.png"/><Relationship Id="rId8" Type="http://schemas.openxmlformats.org/officeDocument/2006/relationships/image" Target="../media/image13.png"/><Relationship Id="rId9" Type="http://schemas.openxmlformats.org/officeDocument/2006/relationships/image" Target="../media/image14.png"/><Relationship Id="rId10" Type="http://schemas.openxmlformats.org/officeDocument/2006/relationships/image" Target="../media/image15.png"/><Relationship Id="rId11" Type="http://schemas.openxmlformats.org/officeDocument/2006/relationships/image" Target="../media/image16.png"/><Relationship Id="rId12" Type="http://schemas.openxmlformats.org/officeDocument/2006/relationships/image" Target="../media/image17.png"/><Relationship Id="rId13" Type="http://schemas.openxmlformats.org/officeDocument/2006/relationships/image" Target="../media/image18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image" Target="../media/image20.png"/><Relationship Id="rId4" Type="http://schemas.openxmlformats.org/officeDocument/2006/relationships/image" Target="../media/image21.png"/><Relationship Id="rId5" Type="http://schemas.openxmlformats.org/officeDocument/2006/relationships/image" Target="../media/image22.png"/><Relationship Id="rId6" Type="http://schemas.openxmlformats.org/officeDocument/2006/relationships/image" Target="../media/image23.png"/><Relationship Id="rId7" Type="http://schemas.openxmlformats.org/officeDocument/2006/relationships/image" Target="../media/image24.png"/><Relationship Id="rId8" Type="http://schemas.openxmlformats.org/officeDocument/2006/relationships/image" Target="../media/image25.png"/><Relationship Id="rId9" Type="http://schemas.openxmlformats.org/officeDocument/2006/relationships/image" Target="../media/image26.png"/><Relationship Id="rId10" Type="http://schemas.openxmlformats.org/officeDocument/2006/relationships/image" Target="../media/image27.png"/><Relationship Id="rId11" Type="http://schemas.openxmlformats.org/officeDocument/2006/relationships/image" Target="../media/image28.png"/><Relationship Id="rId12" Type="http://schemas.openxmlformats.org/officeDocument/2006/relationships/image" Target="../media/image29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Relationship Id="rId3" Type="http://schemas.openxmlformats.org/officeDocument/2006/relationships/image" Target="../media/image31.png"/><Relationship Id="rId4" Type="http://schemas.openxmlformats.org/officeDocument/2006/relationships/image" Target="../media/image32.png"/><Relationship Id="rId5" Type="http://schemas.openxmlformats.org/officeDocument/2006/relationships/image" Target="../media/image3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Relationship Id="rId3" Type="http://schemas.openxmlformats.org/officeDocument/2006/relationships/image" Target="../media/image35.png"/><Relationship Id="rId4" Type="http://schemas.openxmlformats.org/officeDocument/2006/relationships/image" Target="../media/image36.png"/><Relationship Id="rId5" Type="http://schemas.openxmlformats.org/officeDocument/2006/relationships/image" Target="../media/image37.png"/><Relationship Id="rId6" Type="http://schemas.openxmlformats.org/officeDocument/2006/relationships/image" Target="../media/image38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715000" y="4011810"/>
            <a:ext cx="762000" cy="381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6350" y="1436489"/>
            <a:ext cx="457200" cy="6096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48350" y="1588889"/>
            <a:ext cx="266700" cy="3048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19850" y="1436489"/>
            <a:ext cx="685800" cy="6096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1437" y="2503289"/>
            <a:ext cx="12049125" cy="1279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5040"/>
              </a:lnSpc>
            </a:pPr>
            <a:r>
              <a:rPr b="1" sz="4200" i="0" u="none">
                <a:solidFill>
                  <a:srgbClr val="0F172A"/>
                </a:solidFill>
                <a:latin typeface="Inter"/>
              </a:rPr>
              <a:t>AI đọc chứng từ, chủ hộ tự kê khai thuế trong 30 phút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5375" y="4278510"/>
            <a:ext cx="10001250" cy="647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2100" i="0" u="none">
                <a:solidFill>
                  <a:srgbClr val="475569"/>
                </a:solidFill>
                <a:latin typeface="Inter"/>
              </a:rPr>
              <a:t>Ý tưởng AI hỗ trợ chủ hộ kinh doanh tự kê khai thuế 01/CNKD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69218" y="6057900"/>
            <a:ext cx="9453562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200" i="0" u="none">
                <a:solidFill>
                  <a:srgbClr val="94A3B8"/>
                </a:solidFill>
                <a:latin typeface="Inter"/>
              </a:rPr>
              <a:t>Thực hiện: Đoàn Tuấn Long, Đinh Ngọc Đức, Nguyễn Đình Phúc, Trần Thị Hải Yến, Nguyễn Ngọc Thái An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62000" y="2400300"/>
            <a:ext cx="3352800" cy="2905125"/>
          </a:xfrm>
          <a:prstGeom prst="roundRect">
            <a:avLst>
              <a:gd name="adj" fmla="val 5245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419600" y="2400300"/>
            <a:ext cx="3352800" cy="2905125"/>
          </a:xfrm>
          <a:prstGeom prst="roundRect">
            <a:avLst>
              <a:gd name="adj" fmla="val 5245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77200" y="2400300"/>
            <a:ext cx="3352800" cy="2905125"/>
          </a:xfrm>
          <a:prstGeom prst="roundRect">
            <a:avLst>
              <a:gd name="adj" fmla="val 5245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00" y="2781300"/>
            <a:ext cx="2743200" cy="3810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4400" y="2781300"/>
            <a:ext cx="2743200" cy="3810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0" y="2781300"/>
            <a:ext cx="2743200" cy="381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62000" y="609600"/>
            <a:ext cx="11430000" cy="457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b="1" sz="3000" i="0" u="none">
                <a:solidFill>
                  <a:srgbClr val="0F172A"/>
                </a:solidFill>
                <a:latin typeface="Inter"/>
              </a:rPr>
              <a:t>Vấn đề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1181100"/>
            <a:ext cx="11430000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64748B"/>
                </a:solidFill>
                <a:latin typeface="Inter"/>
              </a:rPr>
              <a:t>Từ 1/1/2026, hàng trăm nghìn hộ kinh doanh lần đầu phải tự kê khai thuế.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6800" y="3390900"/>
            <a:ext cx="3600450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172A"/>
                </a:solidFill>
                <a:latin typeface="Inter"/>
              </a:rPr>
              <a:t>Ai gặp khó?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6800" y="3781425"/>
            <a:ext cx="283845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b="0" sz="1500" i="0" u="none">
                <a:solidFill>
                  <a:srgbClr val="475569"/>
                </a:solidFill>
                <a:latin typeface="Inter"/>
              </a:rPr>
              <a:t>Chủ hộ kinh doanh (tạp hóa, quán ăn, online) doanh thu 500tr-3tỷ/năm, không có kế toán.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24400" y="3390900"/>
            <a:ext cx="3600450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172A"/>
                </a:solidFill>
                <a:latin typeface="Inter"/>
              </a:rPr>
              <a:t>Vì sao khó?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24400" y="3781425"/>
            <a:ext cx="283845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b="0" sz="1500" i="0" u="none">
                <a:solidFill>
                  <a:srgbClr val="475569"/>
                </a:solidFill>
                <a:latin typeface="Inter"/>
              </a:rPr>
              <a:t>Form thuế dùng từ chuyên môn. Chứng từ trong quý rời rạc, không cùng định dạng.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82000" y="3390900"/>
            <a:ext cx="3600450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172A"/>
                </a:solidFill>
                <a:latin typeface="Inter"/>
              </a:rPr>
              <a:t>Quy mô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82000" y="3781425"/>
            <a:ext cx="283845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b="0" sz="1500" i="0" u="none">
                <a:solidFill>
                  <a:srgbClr val="475569"/>
                </a:solidFill>
                <a:latin typeface="Inter"/>
              </a:rPr>
              <a:t>883.000 hộ chịu ảnh hưởng nặng nhất trong 3.83 triệu hộ bỏ thuế khoán.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244703" y="2971800"/>
            <a:ext cx="3943350" cy="1762125"/>
          </a:xfrm>
          <a:prstGeom prst="roundRect">
            <a:avLst>
              <a:gd name="adj" fmla="val 8648"/>
            </a:avLst>
          </a:prstGeom>
          <a:solidFill>
            <a:srgbClr val="FFF7ED"/>
          </a:solidFill>
          <a:ln w="19050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59115" y="2857500"/>
            <a:ext cx="1914525" cy="238125"/>
          </a:xfrm>
          <a:prstGeom prst="roundRect">
            <a:avLst>
              <a:gd name="adj" fmla="val 50000"/>
            </a:avLst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7050" y="3776662"/>
            <a:ext cx="95250" cy="1524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8402" y="3776662"/>
            <a:ext cx="95250" cy="1524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99103" y="3776662"/>
            <a:ext cx="95250" cy="1524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" y="3295650"/>
            <a:ext cx="762000" cy="7620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84351" y="3295650"/>
            <a:ext cx="762000" cy="7620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68753" y="3776662"/>
            <a:ext cx="95250" cy="1524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86404" y="3295650"/>
            <a:ext cx="762000" cy="7620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09700" y="3524250"/>
            <a:ext cx="228600" cy="3048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651051" y="3524250"/>
            <a:ext cx="228600" cy="3048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873353" y="3295650"/>
            <a:ext cx="762000" cy="7620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797403" y="3295650"/>
            <a:ext cx="762000" cy="76200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515004" y="3524250"/>
            <a:ext cx="304800" cy="3048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101953" y="3524250"/>
            <a:ext cx="304800" cy="3048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26003" y="3524250"/>
            <a:ext cx="304800" cy="3048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62000" y="609600"/>
            <a:ext cx="11430000" cy="457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b="1" sz="3000" i="0" u="none">
                <a:solidFill>
                  <a:srgbClr val="0F172A"/>
                </a:solidFill>
                <a:latin typeface="Inter"/>
              </a:rPr>
              <a:t>Trước khi có AI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2000" y="1181100"/>
            <a:ext cx="11430000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64748B"/>
                </a:solidFill>
                <a:latin typeface="Inter"/>
              </a:rPr>
              <a:t>Một lần kê khai mất 3-5 giờ, và rất dễ điền sai.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3437" y="4210050"/>
            <a:ext cx="138112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0F172A"/>
                </a:solidFill>
                <a:latin typeface="Inter"/>
              </a:rPr>
              <a:t>Gom hóa đơn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43820" y="4210050"/>
            <a:ext cx="1643062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0F172A"/>
                </a:solidFill>
                <a:latin typeface="Inter"/>
              </a:rPr>
              <a:t>Cộng doanh thu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11515" y="2895600"/>
            <a:ext cx="1704975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FFFFFF"/>
                </a:solidFill>
                <a:latin typeface="Inter"/>
              </a:rPr>
              <a:t>Mất nhiều thời gian nhất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353079" y="4210050"/>
            <a:ext cx="62865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0F172A"/>
                </a:solidFill>
                <a:latin typeface="Inter"/>
              </a:rPr>
              <a:t>Nộp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0446" y="4210050"/>
            <a:ext cx="1547812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0F172A"/>
                </a:solidFill>
                <a:latin typeface="Inter"/>
              </a:rPr>
              <a:t>Chọn cách tính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21190" y="4210050"/>
            <a:ext cx="111442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0F172A"/>
                </a:solidFill>
                <a:latin typeface="Inter"/>
              </a:rPr>
              <a:t>Điền form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671762" y="4881562"/>
            <a:ext cx="6848475" cy="609600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74331" y="3281362"/>
            <a:ext cx="266700" cy="3048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53062" y="2767012"/>
            <a:ext cx="1333500" cy="13335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98593" y="3281362"/>
            <a:ext cx="266700" cy="3048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17708" y="2786043"/>
            <a:ext cx="936558" cy="1104938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74401" y="2642443"/>
            <a:ext cx="794672" cy="1011137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31526" y="3023443"/>
            <a:ext cx="794672" cy="1011137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815012" y="3128962"/>
            <a:ext cx="609600" cy="6096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077325" y="2862262"/>
            <a:ext cx="1285875" cy="11430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001250" y="3643312"/>
            <a:ext cx="457200" cy="4572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052762" y="5091112"/>
            <a:ext cx="238125" cy="1905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039350" y="3681412"/>
            <a:ext cx="381000" cy="3810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62000" y="609600"/>
            <a:ext cx="11430000" cy="457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b="1" sz="3000" i="0" u="none">
                <a:solidFill>
                  <a:srgbClr val="0F172A"/>
                </a:solidFill>
                <a:latin typeface="Inter"/>
              </a:rPr>
              <a:t>Ý tưởng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2000" y="1181100"/>
            <a:ext cx="11430000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64748B"/>
                </a:solidFill>
                <a:latin typeface="Inter"/>
              </a:rPr>
              <a:t>AI đọc chứng từ và giải thích từng ô — chủ hộ chỉ cần xem lại rồi tự nộp.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52762" y="5072062"/>
            <a:ext cx="7608093" cy="228600"/>
          </a:xfrm>
          <a:prstGeom prst="rect">
            <a:avLst/>
          </a:prstGeom>
          <a:noFill/>
        </p:spPr>
        <p:txBody>
          <a:bodyPr wrap="none" lIns="352425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334155"/>
                </a:solidFill>
                <a:latin typeface="Inter"/>
              </a:rPr>
              <a:t>AI không nộp thay — chủ hộ vẫn là người quyết định cuối cùng.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62000" y="1962150"/>
            <a:ext cx="5143500" cy="3048000"/>
          </a:xfrm>
          <a:prstGeom prst="roundRect">
            <a:avLst>
              <a:gd name="adj" fmla="val 75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86500" y="1962150"/>
            <a:ext cx="5143500" cy="3048000"/>
          </a:xfrm>
          <a:prstGeom prst="roundRect">
            <a:avLst>
              <a:gd name="adj" fmla="val 7500"/>
            </a:avLst>
          </a:prstGeom>
          <a:solidFill>
            <a:srgbClr val="F0F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62000" y="1962150"/>
            <a:ext cx="57150" cy="3048000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286500" y="1962150"/>
            <a:ext cx="57150" cy="304800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6350" y="2838450"/>
            <a:ext cx="609600" cy="6096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6350" y="3676650"/>
            <a:ext cx="609600" cy="4572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00850" y="2838450"/>
            <a:ext cx="609600" cy="6096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00850" y="3676650"/>
            <a:ext cx="609600" cy="4572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62000" y="609600"/>
            <a:ext cx="11430000" cy="457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b="1" sz="3000" i="0" u="none">
                <a:solidFill>
                  <a:srgbClr val="0F172A"/>
                </a:solidFill>
                <a:latin typeface="Inter"/>
              </a:rPr>
              <a:t>Sau khi có AI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2000" y="1181100"/>
            <a:ext cx="11430000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64748B"/>
                </a:solidFill>
                <a:latin typeface="Inter"/>
              </a:rPr>
              <a:t>Từ 3-5 giờ xuống dưới 30 phút.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-285750" y="5467350"/>
            <a:ext cx="12763500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800" i="0" u="none">
                <a:solidFill>
                  <a:srgbClr val="0F172A"/>
                </a:solidFill>
                <a:latin typeface="Inter"/>
              </a:rPr>
              <a:t>Chủ hộ chỉ làm 2 việc: đối chiếu và tự nộp.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66950" y="3057525"/>
            <a:ext cx="2412801" cy="323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2100" i="0" u="none">
                <a:solidFill>
                  <a:srgbClr val="64748B"/>
                </a:solidFill>
                <a:latin typeface="Inter"/>
              </a:rPr>
              <a:t>Trước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66950" y="3457575"/>
            <a:ext cx="2297906" cy="457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b="1" sz="3600" i="0" u="none">
                <a:solidFill>
                  <a:srgbClr val="EA580C"/>
                </a:solidFill>
                <a:latin typeface="Inter"/>
              </a:rPr>
              <a:t>3 - 5 giờ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91450" y="3057525"/>
            <a:ext cx="2887860" cy="323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2100" i="0" u="none">
                <a:solidFill>
                  <a:srgbClr val="64748B"/>
                </a:solidFill>
                <a:latin typeface="Inter"/>
              </a:rPr>
              <a:t>Sau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91450" y="3457575"/>
            <a:ext cx="2750343" cy="457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b="1" sz="3600" i="0" u="none">
                <a:solidFill>
                  <a:srgbClr val="16A34A"/>
                </a:solidFill>
                <a:latin typeface="Inter"/>
              </a:rPr>
              <a:t>&lt; 30 phút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62000" y="2572791"/>
            <a:ext cx="3352800" cy="2560141"/>
          </a:xfrm>
          <a:prstGeom prst="roundRect">
            <a:avLst>
              <a:gd name="adj" fmla="val 5952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419600" y="2572791"/>
            <a:ext cx="3352800" cy="2560141"/>
          </a:xfrm>
          <a:prstGeom prst="roundRect">
            <a:avLst>
              <a:gd name="adj" fmla="val 5952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77200" y="2572791"/>
            <a:ext cx="3352800" cy="2560141"/>
          </a:xfrm>
          <a:prstGeom prst="roundRect">
            <a:avLst>
              <a:gd name="adj" fmla="val 5952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00" y="2953791"/>
            <a:ext cx="609600" cy="6096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4400" y="2953791"/>
            <a:ext cx="609600" cy="6096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0" y="2953791"/>
            <a:ext cx="609600" cy="6096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38250" y="3125241"/>
            <a:ext cx="266700" cy="2667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10137" y="3125241"/>
            <a:ext cx="238125" cy="2667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53450" y="3125241"/>
            <a:ext cx="266700" cy="2667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62000" y="609600"/>
            <a:ext cx="11430000" cy="457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b="1" sz="3000" i="0" u="none">
                <a:solidFill>
                  <a:srgbClr val="0F172A"/>
                </a:solidFill>
                <a:latin typeface="Inter"/>
              </a:rPr>
              <a:t>Giới hạn của AI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2000" y="1181100"/>
            <a:ext cx="11430000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64748B"/>
                </a:solidFill>
                <a:latin typeface="Inter"/>
              </a:rPr>
              <a:t>AI chỉ hỗ trợ, không thay chủ hộ quyết định.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6800" y="3791991"/>
            <a:ext cx="3429000" cy="3199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1" sz="1800" i="0" u="none">
                <a:solidFill>
                  <a:srgbClr val="0F172A"/>
                </a:solidFill>
                <a:latin typeface="Inter"/>
              </a:rPr>
              <a:t>AI không tự nộp tờ khai.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24400" y="3791991"/>
            <a:ext cx="2838450" cy="9599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1" sz="1800" i="0" u="none">
                <a:solidFill>
                  <a:srgbClr val="0F172A"/>
                </a:solidFill>
                <a:latin typeface="Inter"/>
              </a:rPr>
              <a:t>AI không tự chọn cách tính thuế khi thiếu căn cứ.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82000" y="3791991"/>
            <a:ext cx="2838450" cy="9599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1" sz="1800" i="0" u="none">
                <a:solidFill>
                  <a:srgbClr val="0F172A"/>
                </a:solidFill>
                <a:latin typeface="Inter"/>
              </a:rPr>
              <a:t>AI không tự bịa số liệu, luôn dẫn nguồn quy định chính thức.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590675" y="4367212"/>
            <a:ext cx="9010650" cy="771525"/>
          </a:xfrm>
          <a:prstGeom prst="roundRect">
            <a:avLst>
              <a:gd name="adj" fmla="val 50000"/>
            </a:avLst>
          </a:prstGeom>
          <a:solidFill>
            <a:srgbClr val="F0FDF4"/>
          </a:solidFill>
          <a:ln w="19050">
            <a:solidFill>
              <a:srgbClr val="BBF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381750" y="2566987"/>
            <a:ext cx="19050" cy="11906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2000" y="609600"/>
            <a:ext cx="11430000" cy="4572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b="1" sz="3000" i="0" u="none">
                <a:solidFill>
                  <a:srgbClr val="0F172A"/>
                </a:solidFill>
                <a:latin typeface="Inter"/>
              </a:rPr>
              <a:t>Kết quả kỳ vọng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1181100"/>
            <a:ext cx="11430000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800" i="0" u="none">
                <a:solidFill>
                  <a:srgbClr val="64748B"/>
                </a:solidFill>
                <a:latin typeface="Inter"/>
              </a:rPr>
              <a:t>Thử nghiệm nhỏ trước, mở rộng sau.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66925" y="4614862"/>
            <a:ext cx="10072687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16A34A"/>
                </a:solidFill>
                <a:latin typeface="Inter"/>
              </a:rPr>
              <a:t>Bước tiếp theo: Thử nghiệm với một nhóm nhỏ chủ hộ trước khi mở rộng.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0167" y="2566987"/>
            <a:ext cx="4313039" cy="762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6000"/>
              </a:lnSpc>
            </a:pPr>
            <a:r>
              <a:rPr b="1" sz="6000" i="0" u="none">
                <a:solidFill>
                  <a:srgbClr val="0F172A"/>
                </a:solidFill>
                <a:latin typeface="Inter"/>
              </a:rPr>
              <a:t>30-60</a:t>
            </a:r>
            <a:r>
              <a:rPr b="1" sz="3000" i="0" u="none">
                <a:solidFill>
                  <a:srgbClr val="0F172A"/>
                </a:solidFill>
                <a:latin typeface="Inter"/>
              </a:rPr>
              <a:t>phút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2859" y="3481387"/>
            <a:ext cx="4107656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800" i="0" u="none">
                <a:solidFill>
                  <a:srgbClr val="64748B"/>
                </a:solidFill>
                <a:latin typeface="Inter"/>
              </a:rPr>
              <a:t>Thời gian kê khai lần đầu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41616" y="2566987"/>
            <a:ext cx="3537942" cy="762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6000"/>
              </a:lnSpc>
            </a:pPr>
            <a:r>
              <a:rPr b="1" sz="6000" i="0" u="none">
                <a:solidFill>
                  <a:srgbClr val="0F172A"/>
                </a:solidFill>
                <a:latin typeface="Inter"/>
              </a:rPr>
              <a:t>0</a:t>
            </a:r>
            <a:r>
              <a:rPr b="1" sz="3000" i="0" u="none">
                <a:solidFill>
                  <a:srgbClr val="0F172A"/>
                </a:solidFill>
                <a:latin typeface="Inter"/>
              </a:rPr>
              <a:t>lần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25853" y="3481387"/>
            <a:ext cx="3369468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800" i="0" u="none">
                <a:solidFill>
                  <a:srgbClr val="64748B"/>
                </a:solidFill>
                <a:latin typeface="Inter"/>
              </a:rPr>
              <a:t>Bị trả hồ sơ vì sai chỉ tiêu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